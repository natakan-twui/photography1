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960120" y="1234440"/>
            <a:ext cx="10241280" cy="4526280"/>
          </a:xfrm>
          <a:prstGeom prst="roundRect">
            <a:avLst>
              <a:gd name="adj" fmla="val 8000"/>
            </a:avLst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71165" y="1874519"/>
            <a:ext cx="921919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713B55"/>
                </a:solidFill>
                <a:latin typeface="Aptos Display"/>
              </a:defRPr>
            </a:pPr>
            <a:r>
              <a:rPr sz="3400" dirty="0" b="1">
                <a:solidFill>
                  <a:srgbClr val="E05B8F"/>
                </a:solidFill>
                <a:latin typeface="Aptos Display"/>
              </a:rPr>
              <a:t>Photography Location</a:t>
            </a:r>
            <a:br>
              <a:rPr sz="6600" dirty="0">
                <a:latin typeface="Aptos Display"/>
              </a:rPr>
            </a:br>
            <a:r>
              <a:rPr sz="3400" dirty="0" b="1">
                <a:solidFill>
                  <a:srgbClr val="E05B8F"/>
                </a:solidFill>
                <a:latin typeface="Aptos Display"/>
              </a:rPr>
              <a:t>Recommender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1556" y="4067039"/>
            <a:ext cx="49584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1496A"/>
                </a:solidFill>
              </a:defRPr>
            </a:pPr>
            <a:r>
              <a:rPr sz="2500" b="1">
                <a:solidFill>
                  <a:srgbClr val="5B3046"/>
                </a:solidFill>
                <a:latin typeface="Aptos"/>
              </a:rPr>
              <a:t>ระบบแนะนำสถานที่ถ่ายภาพ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5936" y="5977694"/>
            <a:ext cx="1989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44C59"/>
                </a:solidFill>
              </a:defRPr>
            </a:pPr>
            <a:r>
              <a:rPr dirty="0" err="1" sz="1600" b="0">
                <a:solidFill>
                  <a:srgbClr val="A36F87"/>
                </a:solidFill>
                <a:latin typeface="Aptos"/>
              </a:rPr>
              <a:t>ชื่อผู้จัดทำ</a:t>
            </a:r>
            <a:r>
              <a:rPr dirty="0" sz="1600" b="0">
                <a:solidFill>
                  <a:srgbClr val="A36F87"/>
                </a:solidFill>
                <a:latin typeface="Aptos"/>
              </a:rPr>
              <a:t>  </a:t>
            </a:r>
            <a:r>
              <a:rPr lang="th-TH" dirty="0" smtClean="0" sz="1600" b="0">
                <a:solidFill>
                  <a:srgbClr val="A36F87"/>
                </a:solidFill>
                <a:latin typeface="Aptos"/>
              </a:rPr>
              <a:t>ณฐกาญจน์ โพธิ์ทอง</a:t>
            </a:r>
            <a:endParaRPr dirty="0">
              <a:latin typeface="Aptos Display"/>
            </a:endParaRP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600" dirty="0" err="1" b="0">
                <a:solidFill>
                  <a:srgbClr val="A36F87"/>
                </a:solidFill>
                <a:latin typeface="Aptos"/>
              </a:rPr>
              <a:t>รหัสนักศึกษา</a:t>
            </a:r>
            <a:r>
              <a:rPr sz="1600" dirty="0" b="0">
                <a:solidFill>
                  <a:srgbClr val="A36F87"/>
                </a:solidFill>
                <a:latin typeface="Aptos"/>
              </a:rPr>
              <a:t> </a:t>
            </a:r>
            <a:r>
              <a:rPr lang="th-TH" sz="1600" dirty="0" smtClean="0" b="0">
                <a:solidFill>
                  <a:srgbClr val="A36F87"/>
                </a:solidFill>
                <a:latin typeface="Aptos"/>
              </a:rPr>
              <a:t>664245006</a:t>
            </a:r>
            <a:endParaRPr sz="1600" dirty="0">
              <a:latin typeface="Aptos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5087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36F87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3810252" y="547591"/>
            <a:ext cx="4571189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66284" y="657319"/>
            <a:ext cx="4059125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dirty="0" err="1" b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ที่มาและปัญหา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" y="1815788"/>
            <a:ext cx="1051560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ผู้ใช้มีความสนใจสถานที่ถ่ายภาพที่แตกต่างกัน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ข้อมูลผู้ใช้</a:t>
            </a: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สถานที่</a:t>
            </a: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และความสัมพันธ์ระหว่างผู้ใช้มีความเชื่อมโยงกัน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การค้นหาสถานที่จากความสนใจและความสัมพันธ์ของผู้ใช้อาจทำได้ยาก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จึงนำ</a:t>
            </a: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Graph Database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มาใช้ในการจัดเก็บและวิเคราะห์ข้อมูล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91440" cy="2286000"/>
          </a:xfrm>
          <a:prstGeom prst="roundRect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433273" y="409786"/>
            <a:ext cx="7325148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89305" y="519514"/>
            <a:ext cx="6813084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dirty="0" err="1" b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วัตถุประสงค์ของโครงงาน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736224"/>
            <a:ext cx="10515600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พัฒนาระบบแนะนำสถานที่ถ่ายภาพ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จัดเก็บข้อมูลผู้ใช้และสถานที่ในรูปแบบ</a:t>
            </a: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Graph Database</a:t>
            </a: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แสดงความสัมพันธ์ระหว่างผู้ใช้กับผู้ใช้</a:t>
            </a: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และผู้ใช้กับสถานที่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algn="l">
              <a:spcAft>
                <a:spcPts val="1500"/>
              </a:spcAft>
              <a:defRPr sz="2000">
                <a:solidFill>
                  <a:srgbClr val="644C59"/>
                </a:solidFill>
                <a:latin typeface="Aptos"/>
              </a:defRPr>
            </a:pPr>
            <a:r>
              <a:rPr dirty="0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dirty="0" err="1" sz="2000" b="0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นำข้อมูลความสัมพันธ์มาใช้ในการแนะนำสถานที่ถ่ายภาพ</a:t>
            </a:r>
            <a:endParaRPr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91440" cy="2286000"/>
          </a:xfrm>
          <a:prstGeom prst="roundRect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8247888" y="1726065"/>
            <a:ext cx="322783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53128" y="1726065"/>
            <a:ext cx="322783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1726065"/>
            <a:ext cx="322783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9448" y="353092"/>
            <a:ext cx="5188344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65480" y="462820"/>
            <a:ext cx="4676280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dirty="0" err="1" b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แนวคิดของระบบ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8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USER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8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ข้อมูลผู้ใช้งานระบบ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2628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8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FRIEND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8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ความสัมพันธ์ระหว่างผู้ใช้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21040" y="1762641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8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LIKES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8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สถานที่ที่ผู้ใช้</a:t>
            </a:r>
            <a:r>
              <a:rPr sz="1800" dirty="0" err="1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6336792" y="309644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177056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42232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09644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1770561"/>
            <a:ext cx="5093208" cy="1033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70567" y="389817"/>
            <a:ext cx="4438138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26600" y="499545"/>
            <a:ext cx="3926075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dirty="0" err="1" b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เทคโนโลยีที่ใช้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81628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Python</a:t>
            </a:r>
            <a:r>
              <a:rPr lang="th-TH" sz="18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dirty="0" err="1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พัฒนา</a:t>
            </a:r>
            <a:r>
              <a:rPr sz="18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ระบบ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314216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dirty="0" err="1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Streamlit</a:t>
            </a:r>
            <a:r>
              <a:rPr lang="th-TH" sz="18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dirty="0" err="1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พัฒนา</a:t>
            </a:r>
            <a:r>
              <a:rPr sz="18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Web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6804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dirty="0" b="1">
                <a:solidFill>
                  <a:srgbClr val="5B3046"/>
                </a:solidFill>
                <a:latin typeface="Aptos"/>
              </a:rPr>
              <a:t>Neo4j </a:t>
            </a:r>
            <a:r>
              <a:rPr sz="1800" dirty="0" smtClean="0" b="1">
                <a:solidFill>
                  <a:srgbClr val="5B3046"/>
                </a:solidFill>
                <a:latin typeface="Aptos"/>
              </a:rPr>
              <a:t>Aura</a:t>
            </a:r>
            <a:r>
              <a:rPr lang="th-TH" sz="1800" dirty="0" smtClean="0" b="1">
                <a:solidFill>
                  <a:srgbClr val="5B3046"/>
                </a:solidFill>
                <a:latin typeface="Aptos"/>
              </a:rPr>
              <a:t> </a:t>
            </a:r>
            <a:r>
              <a:rPr sz="1800" dirty="0" err="1" smtClean="0" b="1">
                <a:solidFill>
                  <a:srgbClr val="5B3046"/>
                </a:solidFill>
                <a:latin typeface="Aptos"/>
              </a:rPr>
              <a:t>จัดเก็บ</a:t>
            </a:r>
            <a:r>
              <a:rPr sz="1800" dirty="0" smtClean="0" b="1">
                <a:solidFill>
                  <a:srgbClr val="5B3046"/>
                </a:solidFill>
                <a:latin typeface="Aptos"/>
              </a:rPr>
              <a:t> </a:t>
            </a:r>
            <a:r>
              <a:rPr sz="1800" dirty="0" b="1">
                <a:solidFill>
                  <a:srgbClr val="5B3046"/>
                </a:solidFill>
                <a:latin typeface="Aptos"/>
              </a:rPr>
              <a:t>Graph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1628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8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Cypher</a:t>
            </a:r>
            <a:r>
              <a:rPr lang="th-TH" sz="18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800" dirty="0" err="1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จัดการ</a:t>
            </a:r>
            <a:r>
              <a:rPr sz="18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และค้นหาข้อมูล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46520" y="3142161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dirty="0" smtClean="0" sz="180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GitHub</a:t>
            </a:r>
            <a:r>
              <a:rPr lang="th-TH" dirty="0" smtClean="0" sz="180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err="1" smtClean="0" sz="180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จัดเก็บ</a:t>
            </a:r>
            <a:r>
              <a:rPr dirty="0" smtClean="0" sz="180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dirty="0" sz="180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704088" y="3703319"/>
            <a:ext cx="31089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8" y="1417320"/>
            <a:ext cx="31089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65623" y="279999"/>
            <a:ext cx="8660448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21655" y="389727"/>
            <a:ext cx="8148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dirty="0" err="1" b="1">
                <a:solidFill>
                  <a:srgbClr val="E05B8F"/>
                </a:solidFill>
                <a:latin typeface="Aptos Display"/>
              </a:rPr>
              <a:t>โครงสร้างข้อมูลใน</a:t>
            </a:r>
            <a:r>
              <a:rPr sz="2600" dirty="0" b="1">
                <a:solidFill>
                  <a:srgbClr val="E05B8F"/>
                </a:solidFill>
                <a:latin typeface="Aptos Display"/>
              </a:rPr>
              <a:t> Graph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3017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NODE</a:t>
            </a:r>
          </a:p>
          <a:p>
            <a:pPr algn="l">
              <a:defRPr sz="1400">
                <a:solidFill>
                  <a:srgbClr val="644C59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User</a:t>
            </a:r>
            <a:b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</a:b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3017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l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RELATIONSHIP</a:t>
            </a:r>
          </a:p>
          <a:p>
            <a:pPr algn="l">
              <a:defRPr sz="1400">
                <a:solidFill>
                  <a:srgbClr val="644C59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FRIEND</a:t>
            </a:r>
            <a:br>
              <a:rPr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</a:b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• </a:t>
            </a:r>
            <a:r>
              <a:rPr lang="th-TH" sz="17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7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LIKES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846320" y="2011680"/>
            <a:ext cx="1417320" cy="960120"/>
          </a:xfrm>
          <a:prstGeom prst="ellipse">
            <a:avLst/>
          </a:prstGeom>
          <a:solidFill>
            <a:srgbClr val="FCE7F3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dirty="0" b="1">
                <a:solidFill>
                  <a:srgbClr val="E05B8F"/>
                </a:solidFill>
                <a:latin typeface="Aptos"/>
              </a:rPr>
              <a:t>User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2011680"/>
            <a:ext cx="1417320" cy="960120"/>
          </a:xfrm>
          <a:prstGeom prst="ellipse">
            <a:avLst/>
          </a:prstGeom>
          <a:solidFill>
            <a:srgbClr val="FCE7F3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dirty="0" b="1">
                <a:solidFill>
                  <a:srgbClr val="E05B8F"/>
                </a:solidFill>
                <a:latin typeface="Aptos"/>
              </a:rPr>
              <a:t>User</a:t>
            </a:r>
          </a:p>
        </p:txBody>
      </p:sp>
      <p:sp>
        <p:nvSpPr>
          <p:cNvPr id="8" name="Oval 7"/>
          <p:cNvSpPr/>
          <p:nvPr/>
        </p:nvSpPr>
        <p:spPr>
          <a:xfrm>
            <a:off x="6400799" y="4172373"/>
            <a:ext cx="1554479" cy="960120"/>
          </a:xfrm>
          <a:prstGeom prst="ellipse">
            <a:avLst/>
          </a:prstGeom>
          <a:solidFill>
            <a:srgbClr val="EFE7FF"/>
          </a:solidFill>
          <a:ln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13B55"/>
                </a:solidFill>
              </a:defRPr>
            </a:pPr>
            <a:r>
              <a:rPr sz="1600" dirty="0" b="1">
                <a:solidFill>
                  <a:srgbClr val="E05B8F"/>
                </a:solidFill>
                <a:latin typeface="Aptos"/>
              </a:rPr>
              <a:t>Location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2487168"/>
            <a:ext cx="1645920" cy="0"/>
          </a:xfrm>
          <a:prstGeom prst="line">
            <a:avLst/>
          </a:prstGeom>
          <a:ln w="31750">
            <a:solidFill>
              <a:srgbClr val="914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57975" y="2100334"/>
            <a:ext cx="970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1496A"/>
                </a:solidFill>
              </a:defRPr>
            </a:pPr>
            <a:r>
              <a:rPr sz="1600" dirty="0" b="1">
                <a:solidFill>
                  <a:srgbClr val="E05B8F"/>
                </a:solidFill>
                <a:latin typeface="Aptos"/>
              </a:rPr>
              <a:t>FRIEND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971800"/>
            <a:ext cx="1371600" cy="1234440"/>
          </a:xfrm>
          <a:prstGeom prst="line">
            <a:avLst/>
          </a:prstGeom>
          <a:ln w="31750">
            <a:solidFill>
              <a:srgbClr val="914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3506" y="3388965"/>
            <a:ext cx="748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1496A"/>
                </a:solidFill>
              </a:defRPr>
            </a:pPr>
            <a:r>
              <a:rPr sz="1600" dirty="0" b="1">
                <a:solidFill>
                  <a:srgbClr val="E05B8F"/>
                </a:solidFill>
                <a:latin typeface="Aptos"/>
              </a:rPr>
              <a:t>LIKES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08108" y="5760720"/>
            <a:ext cx="10472154" cy="5689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375863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7408" y="375863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75863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160979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8" y="160979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1609796"/>
            <a:ext cx="341071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5208" y="293512"/>
            <a:ext cx="6021906" cy="987552"/>
          </a:xfrm>
          <a:prstGeom prst="roundRect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71240" y="403240"/>
            <a:ext cx="5509842" cy="11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91496A"/>
                </a:solidFill>
                <a:latin typeface="Aptos Display"/>
              </a:defRPr>
            </a:pPr>
            <a:r>
              <a:rPr sz="2600" dirty="0" err="1" b="1">
                <a:solidFill>
                  <a:srgbClr val="E05B8F"/>
                </a:solidFill>
                <a:latin typeface="Aptos Display" panose="020B0609020000020004" pitchFamily="49" charset="0"/>
                <a:cs typeface="Cascadia Mono Light" panose="020B0609020000020004" pitchFamily="49" charset="0"/>
              </a:rPr>
              <a:t>การทำงานของระบบ</a:t>
            </a:r>
            <a:endParaRPr sz="48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1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เลือกผู้ใช้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6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2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ตรวจสอบเพื่อนของผู้ใช้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65551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3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ตรวจสอบสถานที่ที่</a:t>
            </a:r>
            <a:r>
              <a:rPr sz="1700" dirty="0" err="1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เพื่อน</a:t>
            </a:r>
            <a:r>
              <a:rPr lang="th-TH" sz="1700" dirty="0" smtClean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4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ตัดสถานที่ที่ผู้ใช้เลือกไว้แล้ว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8056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5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จัดลำดับสถานที่แนะนำ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1040" y="3804356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3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 wrap="square"/>
          <a:lstStyle/>
          <a:p>
            <a:pPr algn="ctr">
              <a:defRPr sz="1800" b="1">
                <a:solidFill>
                  <a:srgbClr val="91496A"/>
                </a:solidFill>
              </a:defRPr>
            </a:pP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6</a:t>
            </a:r>
          </a:p>
          <a:p>
            <a:pPr algn="ctr">
              <a:defRPr sz="14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แสดงผลสถานที่แนะนำ</a:t>
            </a:r>
            <a:endParaRPr sz="24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1260" y="5806440"/>
            <a:ext cx="10399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4C59"/>
                </a:solidFill>
              </a:defRPr>
            </a:pP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ระบบจะนำสถานที่ที่เพื่อนของผู้ใช้กด</a:t>
            </a: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Like </a:t>
            </a: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มาพิจารณา</a:t>
            </a:r>
            <a:r>
              <a:rPr sz="1700" dirty="0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sz="1700" dirty="0" err="1" b="1">
                <a:solidFill>
                  <a:srgbClr val="5B3046"/>
                </a:solidFill>
                <a:latin typeface="Aptos" panose="020B0609020000020004" pitchFamily="49" charset="0"/>
                <a:cs typeface="Cascadia Mono Light" panose="020B0609020000020004" pitchFamily="49" charset="0"/>
              </a:rPr>
              <a:t>และแนะนำเฉพาะสถานที่ที่ผู้ใช้ยังไม่ได้เลือก</a:t>
            </a:r>
            <a:endParaRPr sz="2000" dirty="0"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A8797"/>
                </a:solidFill>
              </a:defRPr>
            </a:pPr>
            <a:r>
              <a:rPr sz="1100" b="1">
                <a:solidFill>
                  <a:srgbClr val="A36F87"/>
                </a:solidFill>
                <a:latin typeface="Aptos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5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92840" y="310896"/>
            <a:ext cx="347472" cy="347472"/>
          </a:xfrm>
          <a:prstGeom prst="ellipse">
            <a:avLst/>
          </a:prstGeom>
          <a:solidFill>
            <a:srgbClr val="F9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86032" y="658368"/>
            <a:ext cx="164592" cy="164592"/>
          </a:xfrm>
          <a:prstGeom prst="ellipse">
            <a:avLst/>
          </a:prstGeom>
          <a:solidFill>
            <a:srgbClr val="F29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6032" y="6144768"/>
            <a:ext cx="256032" cy="256032"/>
          </a:xfrm>
          <a:prstGeom prst="ellipse">
            <a:avLst/>
          </a:prstGeom>
          <a:solidFill>
            <a:srgbClr val="FFF1F7"/>
          </a:solidFill>
          <a:ln w="15240">
            <a:solidFill>
              <a:srgbClr val="F9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235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 Display</vt:lpstr>
      <vt:lpstr>Arial</vt:lpstr>
      <vt:lpstr>Calibri</vt:lpstr>
      <vt:lpstr>Cascadia Mono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2026-10-02T07:30:30Z</dcterms:modified>
  <cp:category/>
</cp:coreProperties>
</file>